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4688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DD3FC"/>
                </a:solidFill>
                <a:latin typeface="Arial"/>
              </a:defRPr>
            </a:pPr>
            <a:r>
              <a:t>KANE-JONES DEPOT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JULY 2026 REPORT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Sales  •  Returns  •  True-Cost Margin  •  Customers  •  Pricing  •  Expenses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A fresh management view of the full month — with gross profit measured after sales returns.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514600" cy="210312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SALES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₦173.72M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after ₦13.96M 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291840"/>
            <a:ext cx="2514600" cy="210312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4176" y="347472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GROSS PROFIT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-₦0.52M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post-returns basis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291840"/>
            <a:ext cx="2514600" cy="210312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347472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PROFIT / (LOSS)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-₦2.61M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after ₦2.10M expenses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3291840"/>
            <a:ext cx="2514600" cy="210312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347472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GROSS MARGIN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-1.50%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of net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July 1-31, 2026 | 27 active trading days | 300 invoices | 21,438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01 • EXECUTIVE SUMMARY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July in one view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The business generated strong top-line volume, but returns and cost consumed more than the net sales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TOTAL SALES (GROSS)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₦187.67M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incl. empties • 300 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SALES RETURNS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-₦13.96M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7.44% of gross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SALES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₦173.72M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gross sales less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GROSS PROFIT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-₦0.52M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post-returns basis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EXPENSES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-₦2.10M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operating expenses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PROFIT / (LOSS)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-₦2.61M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-1.50% of net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8655" cy="12344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• The corrected P&amp;L is loss-making: net sales of ₦173.72M generated gross profit of -₦0.52M before ₦2.10M expenses.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Returns are material: ₦13.96M, with ₦12.50M (89.5%) from empties/crates.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Maltina Pet 33cl is the largest revenue driver and the largest product-level loss: ₦51.08M revenue and −₦2.14M product GP.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Customer concentration is high: the top 10 customers contribute 72.6% of gross customer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02 • FINANCIAL BRIDGE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From gross sales to net loss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Every step from invoice value to the final monthly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GROSS SALES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₦187.67M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all invoices, incl. empties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LESS RETURNS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-₦13.96M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7.44% of gross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554480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73736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SALES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₦173.72M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available sales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TOTAL COST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Arial"/>
              </a:defRPr>
            </a:pPr>
            <a:r>
              <a:t>-₦174.24M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product COGS (excl. empties)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GROSS PROFIT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-₦0.52M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+0.26%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291839"/>
            <a:ext cx="3429000" cy="15544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474720"/>
            <a:ext cx="297180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EXPENSES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-₦2.10M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2.095M operating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8655" cy="12344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1018001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  <a:latin typeface="Arial"/>
              </a:defRPr>
            </a:pPr>
            <a:r>
              <a:t>NET PROFIT / (LOSS):  -₦2.61M   (-1.50% of net sales)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Management implication: the immediate priority is not simply more sales; it is profitable sales after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03 • SALES RETURNS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Returns are the biggest swing factor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₦13.96M of sales value came back during the month; the return burden materially changes the profit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057400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TOTAL RETURNS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₦13.96M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116 creditnote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554480"/>
            <a:ext cx="251460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4176" y="1737360"/>
            <a:ext cx="2057400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RETURN RATE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7.44%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of gross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251460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737360"/>
            <a:ext cx="2057400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EMPTIES / CRATES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₦12.50M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89.5% of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554480"/>
            <a:ext cx="251460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737360"/>
            <a:ext cx="2057400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PRODUCT RETURNS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₦1.46M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10.5% of returns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Arial"/>
              </a:defRPr>
            </a:pPr>
            <a:r>
              <a:t>TOP RETURNED ITEMS (VALUE)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NB Empties:  ₦9.82M (70.3%)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Empties Premium:  ₦1.80M (12.9%)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Maltina Pet 33cl:  ₦0.76M (5.4%)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IB Empties:  ₦0.62M (4.5%)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Heineken Sleek Can:  ₦0.37M (2.7%)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GNS EMPTIES:  ₦0.25M (1.8%)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3017520"/>
            <a:ext cx="5297119" cy="32004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4821631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NB Empties alone account for ₦9.82M of returns (70.3% of all returns).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Abbey Idan has the highest return value at ₦2.57M; Ameh Mathew has the highest return count at 29.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DESOLA STORE returned ₦835,000 of product against ₦612,000 of recorded sales — a 136.4% return-to-sales rate to investigate.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Returns are large enough to move the month from near break-even product GP to a ₦10.24M gross loss on the post-return basis.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04 • RETURN TREND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Returns were persistent throughout the month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W2 carried the highest return rate, but every trading week recorded material return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943600" cy="46634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D3FC"/>
                </a:solidFill>
                <a:latin typeface="Arial"/>
              </a:defRPr>
            </a:pPr>
            <a:r>
              <a:t>WEEKLY RETURNS BREAKDOWN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Week 1 (Jul 1-7):  ₦3.56M — 25.5% of returns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Week 2 (Jul 8-14):  ₦3.53M — 25.3% of returns (Peak Rate)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Week 3 (Jul 15-21):  ₦3.53M — 25.3% of returns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Week 4 (Jul 22-28):  ₦2.28M — 16.3% of returns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Tail (Jul 29-31):  ₦1.06M — 7.6% of 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94576" y="1554480"/>
            <a:ext cx="4565599" cy="777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7456" y="1691639"/>
            <a:ext cx="4199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W1:   ₦3.56M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4576" y="2468880"/>
            <a:ext cx="4565599" cy="777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2606040"/>
            <a:ext cx="4199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W2:   ₦3.53M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4576" y="3383280"/>
            <a:ext cx="4565599" cy="777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3520440"/>
            <a:ext cx="4199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W3:   ₦3.53M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4576" y="4297680"/>
            <a:ext cx="4565599" cy="777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4434840"/>
            <a:ext cx="4199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W4:   ₦2.28M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94576" y="5212080"/>
            <a:ext cx="4565599" cy="777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5349240"/>
            <a:ext cx="4199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t>Tail:   ₦1.06M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05 • PRODUCT CONCENTRATION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Single-product volume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#1 REVENUE SKU: MALTINA PET 33CL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₦51.08M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29.3% of total depot product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468880" cy="10058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CASES SOLD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Arial"/>
              </a:defRPr>
            </a:pPr>
            <a:r>
              <a:t>10,236 cases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47.7% of total case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88920"/>
            <a:ext cx="2468880" cy="10058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9718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AVG SELLING PRICE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₦4,990.50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Cost: ₦5,200.00 (-₦210/case)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663440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PRODUCT GROSS LOSS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-₦2,144,490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Gross Margin: -4.20% (Negative spread)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5333695" cy="3566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7850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Arial"/>
              </a:defRPr>
            </a:pPr>
            <a:r>
              <a:t>THE VOLUME TRAP IN MALTINA PET 33CL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Extreme Volume Concentration: Nearly half (47.7%) of all cases moved by the depot were Maltina Pet 33cl (10,236 cases).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Negative Unit Spread: Sold at an average of ₦4,990.50 against an inventory cost of ₦5,200.00, generating a loss of ₦209.50 on every single case.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Compounding Deficit: The more cases sold, the larger the commercial loss (₦2.14M deficit).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Strategic Action: Reprice Maltina Pet 33cl to a minimum floor of ₦5,250/case immediately to eliminate negative unit economics.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06 • PRODUCT MARGIN SPREAD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Negative unit economics are concentrated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212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31520"/>
                <a:gridCol w="914400"/>
                <a:gridCol w="914400"/>
                <a:gridCol w="914400"/>
              </a:tblGrid>
              <a:tr h="2103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Loss Product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Avg Rate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Maltina Pet 33cl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10,236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₦4,990.50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₦5,200.00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-₦2,144,490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212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31520"/>
                <a:gridCol w="914400"/>
                <a:gridCol w="914400"/>
                <a:gridCol w="914400"/>
              </a:tblGrid>
              <a:tr h="10515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Profitable SKU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Avg Rate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Heineken Bottle 60cl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1,978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₦12,985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₦12,746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+₦472,397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Goldberg 60cl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3,349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₦8,787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₦8,657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+₦433,912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33 Export 60cl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1,290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₦9,066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₦8,990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+₦98,450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07 • CUSTOMER CONCENTRATION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High customer concentration with uneven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TOP 10 REVENUE SHARE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85.3%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₦148.67M across top 10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LARGEST ACCOUNT: ENIOLA MARKETER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Arial"/>
              </a:defRPr>
            </a:pPr>
            <a:r>
              <a:t>₦23.54M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Gross Profit: -₦475,202.00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62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LOSS-MAKING ACCOUNTS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10 Accounts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Cumulative negative 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27432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1800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D3FC"/>
                </a:solidFill>
                <a:latin typeface="Arial"/>
              </a:defRPr>
            </a:pPr>
            <a:r>
              <a:t>KEY CUSTOMER ACCOUNT DYNAMICS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Heavy Volume Dependence: 85.3% of sales revenue (₦148.67M) is concentrated in only 10 distributor/retailer accounts.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Volume Does Not Guarantee Profit: The single largest buyer (Eniola Marketer, ₦23.54M) yielded a net gross loss of -₦475,202.00.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Credit Return Distortion: High-volume accounts also generate high empties credit returns, further compressing cash margins.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Action Required: Implement minimum volume pricing tiers and strictly enforce price policy compliance for all top 10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08 • LOSS-MAKING CUSTOMERS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Customer accounts generating negative gross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1005840"/>
                <a:gridCol w="1737360"/>
                <a:gridCol w="1737360"/>
                <a:gridCol w="1645920"/>
                <a:gridCol w="1218895"/>
              </a:tblGrid>
              <a:tr h="42062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Customer Account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Invoices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Cases Sold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Revenue (NGN)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Margin %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09 • MARKETERS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Two marketer accounts require immediate commercial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06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D3FC"/>
                </a:solidFill>
                <a:latin typeface="Arial"/>
              </a:defRPr>
            </a:pPr>
            <a:r>
              <a:t>ACCOUNT 1: ENIOLA MARKETER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Revenue (excl. empties): ₦23,535,615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Total Cases Sold: 3,977 cases (31 invoices)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True Cost (tmp3F5D): ₦24,010,817</a:t>
            </a:r>
          </a:p>
          <a:p>
            <a:pPr>
              <a:spcBef>
                <a:spcPts val="600"/>
              </a:spcBef>
              <a:defRPr sz="950">
                <a:solidFill>
                  <a:srgbClr val="F87171"/>
                </a:solidFill>
                <a:latin typeface="Calibri"/>
              </a:defRPr>
            </a:pPr>
            <a:r>
              <a:t>Gross Profit / Loss: -₦475,202.00 (-2.02%)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Key Driver: High volume of Maltina Pet 33cl and Goldberg sold below standard tier pricing.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Required Action: Enforce sub-distributor pricing tiers; minimum order quantity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42062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D3FC"/>
                </a:solidFill>
                <a:latin typeface="Arial"/>
              </a:defRPr>
            </a:pPr>
            <a:r>
              <a:t>ACCOUNT 2: AZ MARKETER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Revenue (excl. empties): ₦3,642,500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Total Cases Sold: 660 cases (3 invoices)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True Cost (tmp3F5D): ₦3,755,050</a:t>
            </a:r>
          </a:p>
          <a:p>
            <a:pPr>
              <a:spcBef>
                <a:spcPts val="600"/>
              </a:spcBef>
              <a:defRPr sz="950">
                <a:solidFill>
                  <a:srgbClr val="F87171"/>
                </a:solidFill>
                <a:latin typeface="Calibri"/>
              </a:defRPr>
            </a:pPr>
            <a:r>
              <a:t>Gross Profit / Loss: -₦112,550.00 (-3.09%)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Key Driver: Discounted pallet deals on malt beverages with insufficient markup over cost.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Required Action: Immediate moratorium on below-floor rates; revise contract margins.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10 • PRICING &amp; POLICY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Volume without a price floor is the core commercial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BELOW-FLOOR LEAKAGE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₦2,240,000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5 SKUs sold below floor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UNDERPRICED LINES</a:t>
            </a:r>
          </a:p>
          <a:p>
            <a:pPr>
              <a:spcBef>
                <a:spcPts val="400"/>
              </a:spcBef>
              <a:defRPr sz="2200" b="1">
                <a:solidFill>
                  <a:srgbClr val="FBBF24"/>
                </a:solidFill>
                <a:latin typeface="Arial"/>
              </a:defRPr>
            </a:pPr>
            <a:r>
              <a:t>656 / 735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89.2% lines charged below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13716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62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RECONCILIATION ACCURACY</a:t>
            </a:r>
          </a:p>
          <a:p>
            <a:pPr>
              <a:spcBef>
                <a:spcPts val="400"/>
              </a:spcBef>
              <a:defRPr sz="2200" b="1">
                <a:solidFill>
                  <a:srgbClr val="34D399"/>
                </a:solidFill>
                <a:latin typeface="Arial"/>
              </a:defRPr>
            </a:pPr>
            <a:r>
              <a:t>300 / 300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Zero invoice arithmetic discrepancies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27432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999713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D3FC"/>
                </a:solidFill>
                <a:latin typeface="Arial"/>
              </a:defRPr>
            </a:pPr>
            <a:r>
              <a:t>PRICING RULE FOR MANAGEMENT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No volume deal should be approved solely because it grows revenue. Every transaction must clear the depot unit cost floor plus minimum margin.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Selling at high volume below cost accelerates cash loss. Volume tier discounts must be hardcoded with automated ERP approval gates.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12 • KEY INSIGHTS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Top financial &amp; operational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1. Returns Burden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₦13.96M in sales returns (7.44% return rate) significantly erodes depot gross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78308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Arial"/>
              </a:defRPr>
            </a:pPr>
            <a:r>
              <a:t>2. Anchor SKU in the Red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Maltina Pet 33cl generated ₦2.14M in gross loss despite accounting for 47.7% of all cases sold.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3. Extreme Concentration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Top 10 customer accounts represent 85.3% of revenue; loss-making key accounts must be restructured.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10896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324612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4. Operating Expense Overhead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₦2.10M in monthly payment vouchers turns gross trading margin into net operating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Arial"/>
              </a:defRPr>
            </a:pPr>
            <a:r>
              <a:t>5. Below-Floor Pricing Leakage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₦11.10M in pricing leakage occurs from charging rates below official distributor price schedules.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572000"/>
            <a:ext cx="5212080" cy="12801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4709160"/>
            <a:ext cx="4754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6. Inventory Cost Drift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Supplier purchase rates shift mid-month; selling price lists must update synchronously in ERP.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13 • COMMERCIAL RECOMMENDATIONS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Fix price floors &amp; shift product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1. Enforce Hard Floor Pricing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Immediately restrict ERP sales invoices from being created below the manufacturer distributor floor price. Eliminate all discretionary below-floor discounting.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7171"/>
                </a:solidFill>
                <a:latin typeface="Arial"/>
              </a:defRPr>
            </a:pPr>
            <a:r>
              <a:t>2. Reprice Anchor Loss-Makers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Increase Maltina Pet 33cl selling price from ₦4,990.50 to at least ₦5,250.00/case (+₦260 spread). This single intervention eliminates ₦2.14M in monthly gross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  <a:latin typeface="Arial"/>
              </a:defRPr>
            </a:pPr>
            <a:r>
              <a:t>3. Incentivize High-Margin Mix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Shift sales marketer commission incentives toward high-margin SKUs (Heineken Bottle 60cl, Chamdor 75cl, Goldberg 60cl) rather than volume-heavy loss SKUs.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Arial"/>
              </a:defRPr>
            </a:pPr>
            <a:r>
              <a:t>4. Restructure Key Marketer Accounts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Meet with Eniola Marketer and AZ Marketer to renegotiate tier rates, tying volume rebates strictly to net gross profit retention after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14 • OPERATIONAL RECOMMENDATIONS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Tighten return workflows &amp; expense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1. Daily Credit Note Verification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Require dual sign-off (Warehouse Supervisor + Depot Accountant) on all credit return notes (tmpCEF3) before posting credits to customer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  <a:latin typeface="Arial"/>
              </a:defRPr>
            </a:pPr>
            <a:r>
              <a:t>2. Physical Empties Cycle Counts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Conduct bi-weekly physical counts of empties crates (NB Empties, Loose Crates, IB Empties) to eliminate phantom empties credit bleed (₦12.50M credited in July).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7171"/>
                </a:solidFill>
                <a:latin typeface="Arial"/>
              </a:defRPr>
            </a:pPr>
            <a:r>
              <a:t>3. Automated ERP Margin Blocker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Deploy an automated rule in ERP that blocks any invoice yielding negative gross margin unless explicitly overridden by the Managing Director.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01168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Arial"/>
              </a:defRPr>
            </a:pPr>
            <a:r>
              <a:t>4. Discretionary Expense Budgeting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Cap discretionary depot payment vouchers at ₦1.5M/month (down from ₦2.10M in July), requiring pre-approval for non-essential transport &amp; repairs.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15 • 30-DAY ACTION PLAN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Execution roadmap for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5303520"/>
                <a:gridCol w="1676095"/>
              </a:tblGrid>
              <a:tr h="701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Strategic Focus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Key Deliverables &amp; Milestones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7DD3FC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8142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 48 Hours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Floor Freeze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Halt all below-cost sales of Maltina Pet 33cl; update floor prices in ERP.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 Accountant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Marketer Alignment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Meet Eniola and AZ marketers to revise terms; implement returns verification gate.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Commercial Manager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Empties Control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 full physical audit of empties inventory; reconcile credit returns dockets.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Warehouse Lead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Optimization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mid-month product margin spreads; align sales incentives to high-margin SKUs.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Managing Director</a:t>
                      </a:r>
                    </a:p>
                  </a:txBody>
                  <a:tcPr>
                    <a:solidFill>
                      <a:srgbClr val="0E20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Month-End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 &amp; Review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Re-run automated audit snapshot; verify turnaround from net loss to operating profit.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Board / Management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16 • MANAGEMENT TAKEAWAY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path to sustainable depot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KANE-JONES  •  JULY 2026  •  MANAGEMENT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4630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NET SALES REVENUE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Arial"/>
              </a:defRPr>
            </a:pPr>
            <a:r>
              <a:t>₦173.72M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Healthy volume turnover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4630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CURRENT GROSS PROFIT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-₦0.52M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Post-returns product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146304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62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DD3FC"/>
                </a:solidFill>
                <a:latin typeface="Arial"/>
              </a:defRPr>
            </a:pPr>
            <a:r>
              <a:t>TOTAL OPERATING LOSS</a:t>
            </a:r>
          </a:p>
          <a:p>
            <a:pPr>
              <a:spcBef>
                <a:spcPts val="400"/>
              </a:spcBef>
              <a:defRPr sz="2200" b="1">
                <a:solidFill>
                  <a:srgbClr val="F87171"/>
                </a:solidFill>
                <a:latin typeface="Arial"/>
              </a:defRPr>
            </a:pPr>
            <a:r>
              <a:t>-₦2.61M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Includes ₦2.10M payment vouchers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265176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2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DD3FC"/>
                </a:solidFill>
                <a:latin typeface="Arial"/>
              </a:defRPr>
            </a:pPr>
            <a:r>
              <a:t>EXECUTIVE SUMMARY FOR THE BOARD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1. Volume Turnover is Proven: Generating ₦187.67M in monthly sales demonstrates strong depot distribution reach and market demand.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2. Deficit is Concentrated &amp; Fixable: The operating loss is driven by three specific leakages: ₦13.96M in sales returns, ₦2.14M loss on Maltina Pet 33cl, and below-floor marketer deals.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3. Immediate Turnaround Potential: Correcting the Maltina Pet spread (+₦260/case) and tightening returns approval converts this loss into immediate positive net operating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